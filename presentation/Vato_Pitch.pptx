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60720" y="0"/>
            <a:ext cx="164592" cy="6858000"/>
          </a:xfrm>
          <a:prstGeom prst="rect">
            <a:avLst/>
          </a:prstGeom>
          <a:solidFill>
            <a:srgbClr val="0B9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172200"/>
            <a:ext cx="12188952" cy="25400"/>
          </a:xfrm>
          <a:prstGeom prst="rect">
            <a:avLst/>
          </a:prstGeom>
          <a:solidFill>
            <a:srgbClr val="0B9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vat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63040"/>
            <a:ext cx="3474720" cy="186969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283464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ontserrat"/>
              </a:rPr>
              <a:t>Weryfikacja kontrahentów.
W 60 sekund.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977639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0A8C0"/>
                </a:solidFill>
                <a:latin typeface="Montserrat"/>
              </a:rPr>
              <a:t>Narzędzie audytorskie klasy enterprise
dla każdej firmy — bez kosztów licencji.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37160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0B93A8"/>
                </a:solidFill>
                <a:latin typeface="Montserrat"/>
              </a:rPr>
              <a:t>100 pkt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057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0A8C0"/>
                </a:solidFill>
                <a:latin typeface="Montserrat"/>
              </a:rPr>
              <a:t>Skala oceny ryzyka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01752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0B93A8"/>
                </a:solidFill>
                <a:latin typeface="Montserrat"/>
              </a:rPr>
              <a:t>7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703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0A8C0"/>
                </a:solidFill>
                <a:latin typeface="Montserrat"/>
              </a:rPr>
              <a:t>Źródeł danych publicznych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66344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0B93A8"/>
                </a:solidFill>
                <a:latin typeface="Montserrat"/>
              </a:rPr>
              <a:t>&lt; 60s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5349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0A8C0"/>
                </a:solidFill>
                <a:latin typeface="Montserrat"/>
              </a:rPr>
              <a:t>Czas pełnej weryfikacji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0A8C0"/>
                </a:solidFill>
                <a:latin typeface="Montserrat"/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0"/>
            <a:ext cx="12188952" cy="25400"/>
          </a:xfrm>
          <a:prstGeom prst="rect">
            <a:avLst/>
          </a:prstGeom>
          <a:solidFill>
            <a:srgbClr val="0B9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vat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8752" y="201168"/>
            <a:ext cx="1280160" cy="6888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200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93A8"/>
                </a:solidFill>
                <a:latin typeface="Montserrat"/>
              </a:rPr>
              <a:t>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ontserrat"/>
              </a:rPr>
              <a:t>Każda nieweryfikowana faktura
to potencjalna strata.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423160"/>
            <a:ext cx="3566160" cy="310896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423160"/>
            <a:ext cx="3566160" cy="54864"/>
          </a:xfrm>
          <a:prstGeom prst="rect">
            <a:avLst/>
          </a:prstGeom>
          <a:solidFill>
            <a:srgbClr val="0B9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Montserrat"/>
              </a:rPr>
              <a:t>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4612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ontserrat"/>
              </a:rPr>
              <a:t>Ręczna weryfikacja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9476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A8C0"/>
                </a:solidFill>
                <a:latin typeface="Montserrat"/>
              </a:rPr>
              <a:t>Godziny spędzone na wyszukiwaniu w KRS,
MF, CEIDG i GUS — osobno.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2423160"/>
            <a:ext cx="3566160" cy="310896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423160"/>
            <a:ext cx="3566160" cy="54864"/>
          </a:xfrm>
          <a:prstGeom prst="rect">
            <a:avLst/>
          </a:prstGeom>
          <a:solidFill>
            <a:srgbClr val="0B9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65176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Montserrat"/>
              </a:rPr>
              <a:t>⚠️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24612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ontserrat"/>
              </a:rPr>
              <a:t>Ryzyko prawne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79476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A8C0"/>
                </a:solidFill>
                <a:latin typeface="Montserrat"/>
              </a:rPr>
              <a:t>Transakcja z wykreślonym płatnikiem VAT
= odpowiedzialność solidarna za podatek.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80" y="2423160"/>
            <a:ext cx="3566160" cy="310896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3880" y="2423160"/>
            <a:ext cx="3566160" cy="54864"/>
          </a:xfrm>
          <a:prstGeom prst="rect">
            <a:avLst/>
          </a:prstGeom>
          <a:solidFill>
            <a:srgbClr val="0B9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265176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Montserrat"/>
              </a:rPr>
              <a:t>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24612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ontserrat"/>
              </a:rPr>
              <a:t>Realne straty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79476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A8C0"/>
                </a:solidFill>
                <a:latin typeface="Montserrat"/>
              </a:rPr>
              <a:t>Karuzele VAT, firmy-słupy i wyłudzenia
kosztują gospodarkę miliardy rocznie.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0A8C0"/>
                </a:solidFill>
                <a:latin typeface="Montserrat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12080" y="0"/>
            <a:ext cx="146304" cy="6858000"/>
          </a:xfrm>
          <a:prstGeom prst="rect">
            <a:avLst/>
          </a:prstGeom>
          <a:solidFill>
            <a:srgbClr val="0B9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172200"/>
            <a:ext cx="12188952" cy="25400"/>
          </a:xfrm>
          <a:prstGeom prst="rect">
            <a:avLst/>
          </a:prstGeom>
          <a:solidFill>
            <a:srgbClr val="0B9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vat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8752" y="201168"/>
            <a:ext cx="1280160" cy="6888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93A8"/>
                </a:solidFill>
                <a:latin typeface="Montserrat"/>
              </a:rPr>
              <a:t>Rozwiązanie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804672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ontserrat"/>
              </a:rPr>
              <a:t>Vato agreguje wszystko
automatycznie.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402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0A8C0"/>
                </a:solidFill>
                <a:latin typeface="Montserrat"/>
              </a:rPr>
              <a:t>Jeden NIP. Jedno kliknięcie.
Pełny raport z rekomendacją ryzyka.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364992"/>
            <a:ext cx="64008" cy="64008"/>
          </a:xfrm>
          <a:prstGeom prst="rect">
            <a:avLst/>
          </a:prstGeom>
          <a:solidFill>
            <a:srgbClr val="0B9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3246120"/>
            <a:ext cx="44074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Montserrat"/>
              </a:rPr>
              <a:t>Dane rejestrowe z KRS, CEIDG, REGON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931920"/>
            <a:ext cx="64008" cy="64008"/>
          </a:xfrm>
          <a:prstGeom prst="rect">
            <a:avLst/>
          </a:prstGeom>
          <a:solidFill>
            <a:srgbClr val="0B9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3813048"/>
            <a:ext cx="44074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Montserrat"/>
              </a:rPr>
              <a:t>Status VAT i Biała Lista MF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498848"/>
            <a:ext cx="64008" cy="64008"/>
          </a:xfrm>
          <a:prstGeom prst="rect">
            <a:avLst/>
          </a:prstGeom>
          <a:solidFill>
            <a:srgbClr val="0B9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4379976"/>
            <a:ext cx="44074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Montserrat"/>
              </a:rPr>
              <a:t>Weryfikacja cyfrowa (WWW, SSL, domena)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065776"/>
            <a:ext cx="64008" cy="64008"/>
          </a:xfrm>
          <a:prstGeom prst="rect">
            <a:avLst/>
          </a:prstGeom>
          <a:solidFill>
            <a:srgbClr val="0B9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4946904"/>
            <a:ext cx="44074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Montserrat"/>
              </a:rPr>
              <a:t>Eksport PDF / Excel / E-mail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632704"/>
            <a:ext cx="64008" cy="64008"/>
          </a:xfrm>
          <a:prstGeom prst="rect">
            <a:avLst/>
          </a:prstGeom>
          <a:solidFill>
            <a:srgbClr val="0B9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5513832"/>
            <a:ext cx="44074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Montserrat"/>
              </a:rPr>
              <a:t>Obsługa podmiotów z całej UE (VIES)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0" y="822960"/>
            <a:ext cx="6126480" cy="53035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0" y="822960"/>
            <a:ext cx="6126480" cy="54864"/>
          </a:xfrm>
          <a:prstGeom prst="rect">
            <a:avLst/>
          </a:prstGeom>
          <a:solidFill>
            <a:srgbClr val="0B9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0" y="960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0A8C0"/>
                </a:solidFill>
                <a:latin typeface="Montserrat"/>
              </a:rPr>
              <a:t>Przykładowy wynik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132588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ontserrat"/>
              </a:rPr>
              <a:t>KONGSBERG MARITIME POLAND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17830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0A8C0"/>
                </a:solidFill>
                <a:latin typeface="Montserrat"/>
              </a:rPr>
              <a:t>NIP: 8512897664 · KRS: 0000226629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214884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>
                <a:solidFill>
                  <a:srgbClr val="0B93A8"/>
                </a:solidFill>
                <a:latin typeface="Montserrat"/>
              </a:rPr>
              <a:t>93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2697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0A8C0"/>
                </a:solidFill>
                <a:latin typeface="Montserrat"/>
              </a:rPr>
              <a:t>/ 100 pkt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3520440"/>
            <a:ext cx="2560320" cy="402336"/>
          </a:xfrm>
          <a:prstGeom prst="rect">
            <a:avLst/>
          </a:prstGeom>
          <a:solidFill>
            <a:srgbClr val="1E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53328" y="354787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ontserrat"/>
              </a:rPr>
              <a:t>✓  Zaufany kontrahent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0" y="4160520"/>
            <a:ext cx="612648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97880" y="424281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Montserrat"/>
              </a:rPr>
              <a:t>Wiek firmy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424281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0A8C0"/>
                </a:solidFill>
                <a:latin typeface="Montserrat"/>
              </a:rPr>
              <a:t>21 lat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4242816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B93A8"/>
                </a:solidFill>
                <a:latin typeface="Montserrat"/>
              </a:rPr>
              <a:t>10 / 10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0" y="4645152"/>
            <a:ext cx="6126480" cy="475488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97880" y="472744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Montserrat"/>
              </a:rPr>
              <a:t>Status KRS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47274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0A8C0"/>
                </a:solidFill>
                <a:latin typeface="Montserrat"/>
              </a:rPr>
              <a:t>AKTYWNA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24160" y="472744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B93A8"/>
                </a:solidFill>
                <a:latin typeface="Montserrat"/>
              </a:rPr>
              <a:t>10 / 15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0" y="5129783"/>
            <a:ext cx="612648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97880" y="521207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Montserrat"/>
              </a:rPr>
              <a:t>Postęp. komornicze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521207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0A8C0"/>
                </a:solidFill>
                <a:latin typeface="Montserrat"/>
              </a:rPr>
              <a:t>Brak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24160" y="521207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B93A8"/>
                </a:solidFill>
                <a:latin typeface="Montserrat"/>
              </a:rPr>
              <a:t>25 / 25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0" y="5614416"/>
            <a:ext cx="6126480" cy="475488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897880" y="569671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Montserrat"/>
              </a:rPr>
              <a:t>Wiarygodność VAT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569671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0A8C0"/>
                </a:solidFill>
                <a:latin typeface="Montserrat"/>
              </a:rPr>
              <a:t>Czynny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24160" y="569671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B93A8"/>
                </a:solidFill>
                <a:latin typeface="Montserrat"/>
              </a:rPr>
              <a:t>15 / 15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0" y="6099048"/>
            <a:ext cx="612648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897880" y="618134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Montserrat"/>
              </a:rPr>
              <a:t>Wiarygodność cyfrowa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618134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0A8C0"/>
                </a:solidFill>
                <a:latin typeface="Montserrat"/>
              </a:rPr>
              <a:t>HTTPS · SSL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24160" y="6181344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B93A8"/>
                </a:solidFill>
                <a:latin typeface="Montserrat"/>
              </a:rPr>
              <a:t> 8 / 10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0A8C0"/>
                </a:solidFill>
                <a:latin typeface="Montserrat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0"/>
            <a:ext cx="12188952" cy="25400"/>
          </a:xfrm>
          <a:prstGeom prst="rect">
            <a:avLst/>
          </a:prstGeom>
          <a:solidFill>
            <a:srgbClr val="0B9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vat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8752" y="201168"/>
            <a:ext cx="1280160" cy="6888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20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93A8"/>
                </a:solidFill>
                <a:latin typeface="Montserrat"/>
              </a:rPr>
              <a:t>Produkt w akcji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ontserrat"/>
              </a:rPr>
              <a:t>Jeden NIP — pełny obraz firmy.</a:t>
            </a:r>
          </a:p>
        </p:txBody>
      </p:sp>
      <p:sp>
        <p:nvSpPr>
          <p:cNvPr id="7" name="Rectangle 6"/>
          <p:cNvSpPr/>
          <p:nvPr/>
        </p:nvSpPr>
        <p:spPr>
          <a:xfrm>
            <a:off x="356616" y="1545336"/>
            <a:ext cx="5596128" cy="4498848"/>
          </a:xfrm>
          <a:prstGeom prst="rect">
            <a:avLst/>
          </a:prstGeom>
          <a:solidFill>
            <a:srgbClr val="0B9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600200"/>
            <a:ext cx="5486400" cy="4389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whole_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600200"/>
            <a:ext cx="5486400" cy="4389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1480" y="606247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0A8C0"/>
                </a:solidFill>
                <a:latin typeface="Montserrat"/>
              </a:rPr>
              <a:t>Aplikacja desktopowa — ciemny motyw, PL/EN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17336" y="1545336"/>
            <a:ext cx="5779008" cy="2807208"/>
          </a:xfrm>
          <a:prstGeom prst="rect">
            <a:avLst/>
          </a:prstGeom>
          <a:solidFill>
            <a:srgbClr val="0B9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render_ema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600200"/>
            <a:ext cx="5669280" cy="26974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172200" y="4361688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0A8C0"/>
                </a:solidFill>
                <a:latin typeface="Montserrat"/>
              </a:rPr>
              <a:t>Raport HTML wysyłany e-mailem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17336" y="4718304"/>
            <a:ext cx="3584448" cy="1920240"/>
          </a:xfrm>
          <a:prstGeom prst="rect">
            <a:avLst/>
          </a:prstGeom>
          <a:solidFill>
            <a:srgbClr val="0B9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result_sc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4773168"/>
            <a:ext cx="3474720" cy="181051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172200" y="6647688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0A8C0"/>
                </a:solidFill>
                <a:latin typeface="Montserrat"/>
              </a:rPr>
              <a:t>Wynik natychmiastowy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793224" y="4718304"/>
            <a:ext cx="2103120" cy="19202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render_confirm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48088" y="4773168"/>
            <a:ext cx="1993392" cy="181051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848088" y="6647688"/>
            <a:ext cx="19933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0A8C0"/>
                </a:solidFill>
                <a:latin typeface="Montserrat"/>
              </a:rPr>
              <a:t>Raport PDF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0A8C0"/>
                </a:solidFill>
                <a:latin typeface="Montserrat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0"/>
            <a:ext cx="12188952" cy="25400"/>
          </a:xfrm>
          <a:prstGeom prst="rect">
            <a:avLst/>
          </a:prstGeom>
          <a:solidFill>
            <a:srgbClr val="0B9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vat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8752" y="201168"/>
            <a:ext cx="1280160" cy="6888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20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93A8"/>
                </a:solidFill>
                <a:latin typeface="Montserrat"/>
              </a:rPr>
              <a:t>Architektura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ontserrat"/>
              </a:rPr>
              <a:t>Od NIP-u do raportu — w jednym flow.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828800"/>
            <a:ext cx="2606040" cy="3200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828800"/>
            <a:ext cx="2606040" cy="54864"/>
          </a:xfrm>
          <a:prstGeom prst="rect">
            <a:avLst/>
          </a:prstGeom>
          <a:solidFill>
            <a:srgbClr val="0B9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B93A8"/>
                </a:solidFill>
                <a:latin typeface="Montserrat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9748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Montserrat"/>
              </a:rPr>
              <a:t>NIP / KRS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4612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A8C0"/>
                </a:solidFill>
                <a:latin typeface="Montserrat"/>
              </a:rPr>
              <a:t>Użytkownik
podaje identyfikator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35808" y="3200400"/>
            <a:ext cx="256032" cy="54864"/>
          </a:xfrm>
          <a:prstGeom prst="rect">
            <a:avLst/>
          </a:prstGeom>
          <a:solidFill>
            <a:srgbClr val="0B9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19272" y="1828800"/>
            <a:ext cx="2606040" cy="3200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19272" y="1828800"/>
            <a:ext cx="2606040" cy="54864"/>
          </a:xfrm>
          <a:prstGeom prst="rect">
            <a:avLst/>
          </a:prstGeom>
          <a:solidFill>
            <a:srgbClr val="0B9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02152" y="1993392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B93A8"/>
                </a:solidFill>
                <a:latin typeface="Montserrat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2152" y="269748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Montserrat"/>
              </a:rPr>
              <a:t>7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2152" y="324612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A8C0"/>
                </a:solidFill>
                <a:latin typeface="Montserrat"/>
              </a:rPr>
              <a:t>Równoległy
odczyt rejestrów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3200400"/>
            <a:ext cx="256032" cy="54864"/>
          </a:xfrm>
          <a:prstGeom prst="rect">
            <a:avLst/>
          </a:prstGeom>
          <a:solidFill>
            <a:srgbClr val="0B9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27064" y="1828800"/>
            <a:ext cx="2606040" cy="3200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27064" y="1828800"/>
            <a:ext cx="2606040" cy="54864"/>
          </a:xfrm>
          <a:prstGeom prst="rect">
            <a:avLst/>
          </a:prstGeom>
          <a:solidFill>
            <a:srgbClr val="0B9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9944" y="1993392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B93A8"/>
                </a:solidFill>
                <a:latin typeface="Montserrat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269748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Montserrat"/>
              </a:rPr>
              <a:t>Scoring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9944" y="324612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A8C0"/>
                </a:solidFill>
                <a:latin typeface="Montserrat"/>
              </a:rPr>
              <a:t>Algorytm 100-pkt
7 kategorii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51392" y="3200400"/>
            <a:ext cx="256032" cy="54864"/>
          </a:xfrm>
          <a:prstGeom prst="rect">
            <a:avLst/>
          </a:prstGeom>
          <a:solidFill>
            <a:srgbClr val="0B9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34856" y="1828800"/>
            <a:ext cx="2606040" cy="3200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34856" y="1828800"/>
            <a:ext cx="2606040" cy="54864"/>
          </a:xfrm>
          <a:prstGeom prst="rect">
            <a:avLst/>
          </a:prstGeom>
          <a:solidFill>
            <a:srgbClr val="0B9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17736" y="1993392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B93A8"/>
                </a:solidFill>
                <a:latin typeface="Montserrat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17736" y="269748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Montserrat"/>
              </a:rPr>
              <a:t>Raport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17736" y="324612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A8C0"/>
                </a:solidFill>
                <a:latin typeface="Montserrat"/>
              </a:rPr>
              <a:t>PDF · Excel
E-mail · GUI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0A8C0"/>
                </a:solidFill>
                <a:latin typeface="Montserrat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0" y="0"/>
            <a:ext cx="146304" cy="6858000"/>
          </a:xfrm>
          <a:prstGeom prst="rect">
            <a:avLst/>
          </a:prstGeom>
          <a:solidFill>
            <a:srgbClr val="0B9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172200"/>
            <a:ext cx="12188952" cy="25400"/>
          </a:xfrm>
          <a:prstGeom prst="rect">
            <a:avLst/>
          </a:prstGeom>
          <a:solidFill>
            <a:srgbClr val="0B9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vat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8752" y="201168"/>
            <a:ext cx="1280160" cy="6888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93A8"/>
                </a:solidFill>
                <a:latin typeface="Montserrat"/>
              </a:rPr>
              <a:t>Źródła danych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822960"/>
            <a:ext cx="4389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ontserrat"/>
              </a:rPr>
              <a:t>7 publicznych API.
0 złotych kosztów licencji.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286000"/>
            <a:ext cx="4389120" cy="5029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36576" cy="502920"/>
          </a:xfrm>
          <a:prstGeom prst="rect">
            <a:avLst/>
          </a:prstGeom>
          <a:solidFill>
            <a:srgbClr val="0B9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68296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ontserrat"/>
              </a:rPr>
              <a:t>Biała Lista MF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2368296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0A8C0"/>
                </a:solidFill>
                <a:latin typeface="Montserrat"/>
              </a:rPr>
              <a:t>Status VAT + rachunki bankowe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862072"/>
            <a:ext cx="4389120" cy="502920"/>
          </a:xfrm>
          <a:prstGeom prst="rect">
            <a:avLst/>
          </a:prstGeom>
          <a:solidFill>
            <a:srgbClr val="10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862072"/>
            <a:ext cx="36576" cy="502920"/>
          </a:xfrm>
          <a:prstGeom prst="rect">
            <a:avLst/>
          </a:prstGeom>
          <a:solidFill>
            <a:srgbClr val="0B9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94436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ontserrat"/>
              </a:rPr>
              <a:t>KRS REST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294436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0A8C0"/>
                </a:solidFill>
                <a:latin typeface="Montserrat"/>
              </a:rPr>
              <a:t>Rejestr spółek, kapitał, komornicy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438144"/>
            <a:ext cx="4389120" cy="5029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438144"/>
            <a:ext cx="36576" cy="502920"/>
          </a:xfrm>
          <a:prstGeom prst="rect">
            <a:avLst/>
          </a:prstGeom>
          <a:solidFill>
            <a:srgbClr val="0B9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5204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ontserrat"/>
              </a:rPr>
              <a:t>CEIDG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35204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0A8C0"/>
                </a:solidFill>
                <a:latin typeface="Montserrat"/>
              </a:rPr>
              <a:t>Jednoosobowe działalności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014216"/>
            <a:ext cx="4389120" cy="502920"/>
          </a:xfrm>
          <a:prstGeom prst="rect">
            <a:avLst/>
          </a:prstGeom>
          <a:solidFill>
            <a:srgbClr val="10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4014216"/>
            <a:ext cx="36576" cy="502920"/>
          </a:xfrm>
          <a:prstGeom prst="rect">
            <a:avLst/>
          </a:prstGeom>
          <a:solidFill>
            <a:srgbClr val="0B9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09651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ontserrat"/>
              </a:rPr>
              <a:t>GUS BIR1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409651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0A8C0"/>
                </a:solidFill>
                <a:latin typeface="Montserrat"/>
              </a:rPr>
              <a:t>Identyfikacja typu podmiotu (SOAP)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590288"/>
            <a:ext cx="4389120" cy="5029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4590288"/>
            <a:ext cx="36576" cy="502920"/>
          </a:xfrm>
          <a:prstGeom prst="rect">
            <a:avLst/>
          </a:prstGeom>
          <a:solidFill>
            <a:srgbClr val="0B9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67258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ontserrat"/>
              </a:rPr>
              <a:t>VIES (UE)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77440" y="4672584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0A8C0"/>
                </a:solidFill>
                <a:latin typeface="Montserrat"/>
              </a:rPr>
              <a:t>Weryfikacja VAT dla zagranicy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5166360"/>
            <a:ext cx="4389120" cy="502920"/>
          </a:xfrm>
          <a:prstGeom prst="rect">
            <a:avLst/>
          </a:prstGeom>
          <a:solidFill>
            <a:srgbClr val="10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5166360"/>
            <a:ext cx="36576" cy="502920"/>
          </a:xfrm>
          <a:prstGeom prst="rect">
            <a:avLst/>
          </a:prstGeom>
          <a:solidFill>
            <a:srgbClr val="0B9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248656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ontserrat"/>
              </a:rPr>
              <a:t>RDAP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77440" y="5248656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0A8C0"/>
                </a:solidFill>
                <a:latin typeface="Montserrat"/>
              </a:rPr>
              <a:t>Wiek domeny internetowej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5742432"/>
            <a:ext cx="4389120" cy="5029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2920" y="5742432"/>
            <a:ext cx="36576" cy="502920"/>
          </a:xfrm>
          <a:prstGeom prst="rect">
            <a:avLst/>
          </a:prstGeom>
          <a:solidFill>
            <a:srgbClr val="0B9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582472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ontserrat"/>
              </a:rPr>
              <a:t>DuckDuckGo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40" y="582472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0A8C0"/>
                </a:solidFill>
                <a:latin typeface="Montserrat"/>
              </a:rPr>
              <a:t>Wyszukanie strony firmowej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77840" y="5029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93A8"/>
                </a:solidFill>
                <a:latin typeface="Montserrat"/>
              </a:rPr>
              <a:t>Algorytm scoringowy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77840" y="10058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Montserrat"/>
              </a:rPr>
              <a:t>Postępowania komornicze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32720" y="1005840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B93A8"/>
                </a:solidFill>
                <a:latin typeface="Montserrat"/>
              </a:rPr>
              <a:t>25 pkt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577840" y="1353312"/>
            <a:ext cx="5303520" cy="16459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577840" y="1353312"/>
            <a:ext cx="1325880" cy="164592"/>
          </a:xfrm>
          <a:prstGeom prst="rect">
            <a:avLst/>
          </a:prstGeom>
          <a:solidFill>
            <a:srgbClr val="0B9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77840" y="175564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Montserrat"/>
              </a:rPr>
              <a:t>Status formalno-prawny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32720" y="1755648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B93A8"/>
                </a:solidFill>
                <a:latin typeface="Montserrat"/>
              </a:rPr>
              <a:t>15 pkt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577840" y="2103120"/>
            <a:ext cx="5303520" cy="16459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577840" y="2103120"/>
            <a:ext cx="795528" cy="164592"/>
          </a:xfrm>
          <a:prstGeom prst="rect">
            <a:avLst/>
          </a:prstGeom>
          <a:solidFill>
            <a:srgbClr val="0B9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77840" y="250545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Montserrat"/>
              </a:rPr>
              <a:t>Wiarygodność VAT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32720" y="2505456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B93A8"/>
                </a:solidFill>
                <a:latin typeface="Montserrat"/>
              </a:rPr>
              <a:t>15 pkt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77840" y="2852928"/>
            <a:ext cx="5303520" cy="16459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577840" y="2852928"/>
            <a:ext cx="795528" cy="164592"/>
          </a:xfrm>
          <a:prstGeom prst="rect">
            <a:avLst/>
          </a:prstGeom>
          <a:solidFill>
            <a:srgbClr val="0B9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77840" y="325526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Montserrat"/>
              </a:rPr>
              <a:t>Sankcje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32720" y="3255264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B93A8"/>
                </a:solidFill>
                <a:latin typeface="Montserrat"/>
              </a:rPr>
              <a:t>15 pkt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577840" y="3602736"/>
            <a:ext cx="5303520" cy="16459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577840" y="3602736"/>
            <a:ext cx="795528" cy="164592"/>
          </a:xfrm>
          <a:prstGeom prst="rect">
            <a:avLst/>
          </a:prstGeom>
          <a:solidFill>
            <a:srgbClr val="0B9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577840" y="400507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Montserrat"/>
              </a:rPr>
              <a:t>Doświadczenie (wiek)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332720" y="400507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B93A8"/>
                </a:solidFill>
                <a:latin typeface="Montserrat"/>
              </a:rPr>
              <a:t>10 pkt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577840" y="4352544"/>
            <a:ext cx="5303520" cy="16459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577840" y="4352544"/>
            <a:ext cx="530352" cy="16459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577840" y="4754879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Montserrat"/>
              </a:rPr>
              <a:t>Kapitał zakładowy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332720" y="4754879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B93A8"/>
                </a:solidFill>
                <a:latin typeface="Montserrat"/>
              </a:rPr>
              <a:t>10 pkt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577840" y="5102351"/>
            <a:ext cx="5303520" cy="16459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577840" y="5102351"/>
            <a:ext cx="530352" cy="16459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577840" y="550468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Montserrat"/>
              </a:rPr>
              <a:t>Wiarygodność cyfrowa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332720" y="5504688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B93A8"/>
                </a:solidFill>
                <a:latin typeface="Montserrat"/>
              </a:rPr>
              <a:t>10 pkt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577840" y="5852160"/>
            <a:ext cx="5303520" cy="16459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577840" y="5852160"/>
            <a:ext cx="530352" cy="16459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0A8C0"/>
                </a:solidFill>
                <a:latin typeface="Montserrat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0"/>
            <a:ext cx="12188952" cy="25400"/>
          </a:xfrm>
          <a:prstGeom prst="rect">
            <a:avLst/>
          </a:prstGeom>
          <a:solidFill>
            <a:srgbClr val="0B9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vat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8752" y="201168"/>
            <a:ext cx="1280160" cy="6888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20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93A8"/>
                </a:solidFill>
                <a:latin typeface="Montserrat"/>
              </a:rPr>
              <a:t>Technologia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ontserrat"/>
              </a:rPr>
              <a:t>Desktop-first. Async. Bez zależności chmurowych.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920240"/>
            <a:ext cx="2743200" cy="34747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920240"/>
            <a:ext cx="2743200" cy="54864"/>
          </a:xfrm>
          <a:prstGeom prst="rect">
            <a:avLst/>
          </a:prstGeom>
          <a:solidFill>
            <a:srgbClr val="0B9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08483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93A8"/>
                </a:solidFill>
                <a:latin typeface="Montserrat"/>
              </a:rPr>
              <a:t>GUI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697480"/>
            <a:ext cx="54864" cy="54864"/>
          </a:xfrm>
          <a:prstGeom prst="rect">
            <a:avLst/>
          </a:prstGeom>
          <a:solidFill>
            <a:srgbClr val="0B9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63347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Montserrat"/>
              </a:rPr>
              <a:t>Python 3.12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3447288"/>
            <a:ext cx="54864" cy="54864"/>
          </a:xfrm>
          <a:prstGeom prst="rect">
            <a:avLst/>
          </a:prstGeom>
          <a:solidFill>
            <a:srgbClr val="0B9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3383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Montserrat"/>
              </a:rPr>
              <a:t>customtkinter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4197096"/>
            <a:ext cx="54864" cy="54864"/>
          </a:xfrm>
          <a:prstGeom prst="rect">
            <a:avLst/>
          </a:prstGeom>
          <a:solidFill>
            <a:srgbClr val="0B9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413308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Montserrat"/>
              </a:rPr>
              <a:t>Pydantic v2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37560" y="1920240"/>
            <a:ext cx="2743200" cy="34747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37560" y="1920240"/>
            <a:ext cx="2743200" cy="54864"/>
          </a:xfrm>
          <a:prstGeom prst="rect">
            <a:avLst/>
          </a:prstGeom>
          <a:solidFill>
            <a:srgbClr val="0B9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0440" y="208483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93A8"/>
                </a:solidFill>
                <a:latin typeface="Montserrat"/>
              </a:rPr>
              <a:t>Sieć / API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20440" y="2697480"/>
            <a:ext cx="54864" cy="54864"/>
          </a:xfrm>
          <a:prstGeom prst="rect">
            <a:avLst/>
          </a:prstGeom>
          <a:solidFill>
            <a:srgbClr val="0B9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85032" y="263347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Montserrat"/>
              </a:rPr>
              <a:t>httpx (async)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20440" y="3447288"/>
            <a:ext cx="54864" cy="54864"/>
          </a:xfrm>
          <a:prstGeom prst="rect">
            <a:avLst/>
          </a:prstGeom>
          <a:solidFill>
            <a:srgbClr val="0B9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85032" y="3383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Montserrat"/>
              </a:rPr>
              <a:t>BeautifulSoup4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20440" y="4197096"/>
            <a:ext cx="54864" cy="54864"/>
          </a:xfrm>
          <a:prstGeom prst="rect">
            <a:avLst/>
          </a:prstGeom>
          <a:solidFill>
            <a:srgbClr val="0B9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85032" y="413308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Montserrat"/>
              </a:rPr>
              <a:t>trafilatura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1920240"/>
            <a:ext cx="2743200" cy="34747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1920240"/>
            <a:ext cx="2743200" cy="54864"/>
          </a:xfrm>
          <a:prstGeom prst="rect">
            <a:avLst/>
          </a:prstGeom>
          <a:solidFill>
            <a:srgbClr val="0B9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208483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93A8"/>
                </a:solidFill>
                <a:latin typeface="Montserrat"/>
              </a:rPr>
              <a:t>Eksport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46520" y="2697480"/>
            <a:ext cx="54864" cy="54864"/>
          </a:xfrm>
          <a:prstGeom prst="rect">
            <a:avLst/>
          </a:prstGeom>
          <a:solidFill>
            <a:srgbClr val="0B9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11112" y="263347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Montserrat"/>
              </a:rPr>
              <a:t>ReportLab (PDF)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46520" y="3447288"/>
            <a:ext cx="54864" cy="54864"/>
          </a:xfrm>
          <a:prstGeom prst="rect">
            <a:avLst/>
          </a:prstGeom>
          <a:solidFill>
            <a:srgbClr val="0B9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11112" y="3383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Montserrat"/>
              </a:rPr>
              <a:t>pandas + openpyxl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46520" y="4197096"/>
            <a:ext cx="54864" cy="54864"/>
          </a:xfrm>
          <a:prstGeom prst="rect">
            <a:avLst/>
          </a:prstGeom>
          <a:solidFill>
            <a:srgbClr val="0B9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11112" y="413308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Montserrat"/>
              </a:rPr>
              <a:t>SMTP / HTML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89720" y="1920240"/>
            <a:ext cx="2743200" cy="34747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89720" y="1920240"/>
            <a:ext cx="2743200" cy="54864"/>
          </a:xfrm>
          <a:prstGeom prst="rect">
            <a:avLst/>
          </a:prstGeom>
          <a:solidFill>
            <a:srgbClr val="0B9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72600" y="208483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93A8"/>
                </a:solidFill>
                <a:latin typeface="Montserrat"/>
              </a:rPr>
              <a:t>Dodatkowe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372600" y="2697480"/>
            <a:ext cx="54864" cy="54864"/>
          </a:xfrm>
          <a:prstGeom prst="rect">
            <a:avLst/>
          </a:prstGeom>
          <a:solidFill>
            <a:srgbClr val="0B9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37192" y="263347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Montserrat"/>
              </a:rPr>
              <a:t>ElevenLabs TTS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372600" y="3447288"/>
            <a:ext cx="54864" cy="54864"/>
          </a:xfrm>
          <a:prstGeom prst="rect">
            <a:avLst/>
          </a:prstGeom>
          <a:solidFill>
            <a:srgbClr val="0B9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537192" y="3383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Montserrat"/>
              </a:rPr>
              <a:t>DuckDuckGo SDK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372600" y="4197096"/>
            <a:ext cx="54864" cy="54864"/>
          </a:xfrm>
          <a:prstGeom prst="rect">
            <a:avLst/>
          </a:prstGeom>
          <a:solidFill>
            <a:srgbClr val="0B9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537192" y="413308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Montserrat"/>
              </a:rPr>
              <a:t>feedparser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0A8C0"/>
                </a:solidFill>
                <a:latin typeface="Montserrat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B9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B9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at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8752" y="201168"/>
            <a:ext cx="1280160" cy="6888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7315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93A8"/>
                </a:solidFill>
                <a:latin typeface="Montserrat"/>
              </a:rPr>
              <a:t>Dlaczego Vato?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801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ontserrat"/>
              </a:rPr>
              <a:t>Zbudowane w 48h.
Gotowe na produkcję.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834640"/>
            <a:ext cx="5394960" cy="13258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834640"/>
            <a:ext cx="45720" cy="1325880"/>
          </a:xfrm>
          <a:prstGeom prst="rect">
            <a:avLst/>
          </a:prstGeom>
          <a:solidFill>
            <a:srgbClr val="0B9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29718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93A8"/>
                </a:solidFill>
                <a:latin typeface="Montserrat"/>
              </a:rPr>
              <a:t>Bezpłatne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338328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0A8C0"/>
                </a:solidFill>
                <a:latin typeface="Montserrat"/>
              </a:rPr>
              <a:t>Wszystkie dane z publicznych rejestrów rządowych — zero kosztów per-query.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37959" y="2834640"/>
            <a:ext cx="5394960" cy="13258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59" y="2834640"/>
            <a:ext cx="45720" cy="1325880"/>
          </a:xfrm>
          <a:prstGeom prst="rect">
            <a:avLst/>
          </a:prstGeom>
          <a:solidFill>
            <a:srgbClr val="0B9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39127" y="29718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93A8"/>
                </a:solidFill>
                <a:latin typeface="Montserrat"/>
              </a:rPr>
              <a:t>Real-time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39127" y="338328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0A8C0"/>
                </a:solidFill>
                <a:latin typeface="Montserrat"/>
              </a:rPr>
              <a:t>Pełna weryfikacja w &lt; 60 sekund dzięki asynchronicznym wywołaniom.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434840"/>
            <a:ext cx="5394960" cy="13258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434840"/>
            <a:ext cx="45720" cy="1325880"/>
          </a:xfrm>
          <a:prstGeom prst="rect">
            <a:avLst/>
          </a:prstGeom>
          <a:solidFill>
            <a:srgbClr val="0B9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" y="45720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93A8"/>
                </a:solidFill>
                <a:latin typeface="Montserrat"/>
              </a:rPr>
              <a:t>Obiektywny scoring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498348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0A8C0"/>
                </a:solidFill>
                <a:latin typeface="Montserrat"/>
              </a:rPr>
              <a:t>Algorytm 100-pkt oparty na twardych danych, nie subiektywnej ocenie.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37959" y="4434840"/>
            <a:ext cx="5394960" cy="13258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37959" y="4434840"/>
            <a:ext cx="45720" cy="1325880"/>
          </a:xfrm>
          <a:prstGeom prst="rect">
            <a:avLst/>
          </a:prstGeom>
          <a:solidFill>
            <a:srgbClr val="0B9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39127" y="45720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93A8"/>
                </a:solidFill>
                <a:latin typeface="Montserrat"/>
              </a:rPr>
              <a:t>Rozszerzalny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39127" y="498348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0A8C0"/>
                </a:solidFill>
                <a:latin typeface="Montserrat"/>
              </a:rPr>
              <a:t>Modularny kod — dodanie nowego API to jeden nowy serwis w pliku .py.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62636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0A8C0"/>
                </a:solidFill>
                <a:latin typeface="Montserrat"/>
              </a:rPr>
              <a:t>vato · audit · 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0A8C0"/>
                </a:solidFill>
                <a:latin typeface="Montserrat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